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f0fa71de97_3_1087:notes"/>
          <p:cNvSpPr/>
          <p:nvPr>
            <p:ph idx="2" type="sldImg"/>
          </p:nvPr>
        </p:nvSpPr>
        <p:spPr>
          <a:xfrm>
            <a:off x="51435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" name="Google Shape;9;g3f0fa71de97_3_1087:notes"/>
          <p:cNvSpPr txBox="1"/>
          <p:nvPr>
            <p:ph idx="1" type="body"/>
          </p:nvPr>
        </p:nvSpPr>
        <p:spPr>
          <a:xfrm>
            <a:off x="514350" y="3300413"/>
            <a:ext cx="41148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g3f0fa71de97_3_1087:notes"/>
          <p:cNvSpPr txBox="1"/>
          <p:nvPr>
            <p:ph idx="12" type="sldNum"/>
          </p:nvPr>
        </p:nvSpPr>
        <p:spPr>
          <a:xfrm>
            <a:off x="2913460" y="6513910"/>
            <a:ext cx="22290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0fa71de97_3_1157:notes"/>
          <p:cNvSpPr/>
          <p:nvPr>
            <p:ph idx="2" type="sldImg"/>
          </p:nvPr>
        </p:nvSpPr>
        <p:spPr>
          <a:xfrm>
            <a:off x="51435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g3f0fa71de97_3_1157:notes"/>
          <p:cNvSpPr txBox="1"/>
          <p:nvPr>
            <p:ph idx="1" type="body"/>
          </p:nvPr>
        </p:nvSpPr>
        <p:spPr>
          <a:xfrm>
            <a:off x="514350" y="3300413"/>
            <a:ext cx="41148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f0fa71de97_3_1157:notes"/>
          <p:cNvSpPr txBox="1"/>
          <p:nvPr>
            <p:ph idx="12" type="sldNum"/>
          </p:nvPr>
        </p:nvSpPr>
        <p:spPr>
          <a:xfrm>
            <a:off x="2913460" y="6513910"/>
            <a:ext cx="22290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0fa71de97_3_1436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f0fa71de97_3_1436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0fa71de97_3_883:notes"/>
          <p:cNvSpPr/>
          <p:nvPr>
            <p:ph idx="2" type="sldImg"/>
          </p:nvPr>
        </p:nvSpPr>
        <p:spPr>
          <a:xfrm>
            <a:off x="51435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f0fa71de97_3_883:notes"/>
          <p:cNvSpPr txBox="1"/>
          <p:nvPr>
            <p:ph idx="1" type="body"/>
          </p:nvPr>
        </p:nvSpPr>
        <p:spPr>
          <a:xfrm>
            <a:off x="514350" y="3300413"/>
            <a:ext cx="41148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f0fa71de97_3_883:notes"/>
          <p:cNvSpPr txBox="1"/>
          <p:nvPr>
            <p:ph idx="12" type="sldNum"/>
          </p:nvPr>
        </p:nvSpPr>
        <p:spPr>
          <a:xfrm>
            <a:off x="2913460" y="6513910"/>
            <a:ext cx="22290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0fa71de97_3_912:notes"/>
          <p:cNvSpPr/>
          <p:nvPr>
            <p:ph idx="2" type="sldImg"/>
          </p:nvPr>
        </p:nvSpPr>
        <p:spPr>
          <a:xfrm>
            <a:off x="51435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f0fa71de97_3_912:notes"/>
          <p:cNvSpPr txBox="1"/>
          <p:nvPr>
            <p:ph idx="1" type="body"/>
          </p:nvPr>
        </p:nvSpPr>
        <p:spPr>
          <a:xfrm>
            <a:off x="514350" y="3300413"/>
            <a:ext cx="41148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f0fa71de97_3_912:notes"/>
          <p:cNvSpPr txBox="1"/>
          <p:nvPr>
            <p:ph idx="12" type="sldNum"/>
          </p:nvPr>
        </p:nvSpPr>
        <p:spPr>
          <a:xfrm>
            <a:off x="2913460" y="6513910"/>
            <a:ext cx="22290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0fa71de97_3_1264:notes"/>
          <p:cNvSpPr/>
          <p:nvPr>
            <p:ph idx="2" type="sldImg"/>
          </p:nvPr>
        </p:nvSpPr>
        <p:spPr>
          <a:xfrm>
            <a:off x="51435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f0fa71de97_3_1264:notes"/>
          <p:cNvSpPr txBox="1"/>
          <p:nvPr>
            <p:ph idx="1" type="body"/>
          </p:nvPr>
        </p:nvSpPr>
        <p:spPr>
          <a:xfrm>
            <a:off x="514350" y="3300413"/>
            <a:ext cx="41148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f0fa71de97_3_1264:notes"/>
          <p:cNvSpPr txBox="1"/>
          <p:nvPr>
            <p:ph idx="12" type="sldNum"/>
          </p:nvPr>
        </p:nvSpPr>
        <p:spPr>
          <a:xfrm>
            <a:off x="2913460" y="6513910"/>
            <a:ext cx="22290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0fa71de97_3_1282:notes"/>
          <p:cNvSpPr/>
          <p:nvPr>
            <p:ph idx="2" type="sldImg"/>
          </p:nvPr>
        </p:nvSpPr>
        <p:spPr>
          <a:xfrm>
            <a:off x="51435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f0fa71de97_3_1282:notes"/>
          <p:cNvSpPr txBox="1"/>
          <p:nvPr>
            <p:ph idx="1" type="body"/>
          </p:nvPr>
        </p:nvSpPr>
        <p:spPr>
          <a:xfrm>
            <a:off x="514350" y="3300413"/>
            <a:ext cx="41148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f0fa71de97_3_1282:notes"/>
          <p:cNvSpPr txBox="1"/>
          <p:nvPr>
            <p:ph idx="12" type="sldNum"/>
          </p:nvPr>
        </p:nvSpPr>
        <p:spPr>
          <a:xfrm>
            <a:off x="2913460" y="6513910"/>
            <a:ext cx="22290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0fa71de97_3_1305:notes"/>
          <p:cNvSpPr/>
          <p:nvPr>
            <p:ph idx="2" type="sldImg"/>
          </p:nvPr>
        </p:nvSpPr>
        <p:spPr>
          <a:xfrm>
            <a:off x="51435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f0fa71de97_3_1305:notes"/>
          <p:cNvSpPr txBox="1"/>
          <p:nvPr>
            <p:ph idx="1" type="body"/>
          </p:nvPr>
        </p:nvSpPr>
        <p:spPr>
          <a:xfrm>
            <a:off x="514350" y="3300413"/>
            <a:ext cx="41148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f0fa71de97_3_1305:notes"/>
          <p:cNvSpPr txBox="1"/>
          <p:nvPr>
            <p:ph idx="12" type="sldNum"/>
          </p:nvPr>
        </p:nvSpPr>
        <p:spPr>
          <a:xfrm>
            <a:off x="2913460" y="6513910"/>
            <a:ext cx="22290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0fa71de97_3_1319:notes"/>
          <p:cNvSpPr/>
          <p:nvPr>
            <p:ph idx="2" type="sldImg"/>
          </p:nvPr>
        </p:nvSpPr>
        <p:spPr>
          <a:xfrm>
            <a:off x="51435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f0fa71de97_3_1319:notes"/>
          <p:cNvSpPr txBox="1"/>
          <p:nvPr>
            <p:ph idx="1" type="body"/>
          </p:nvPr>
        </p:nvSpPr>
        <p:spPr>
          <a:xfrm>
            <a:off x="514350" y="3300413"/>
            <a:ext cx="41148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f0fa71de97_3_1319:notes"/>
          <p:cNvSpPr txBox="1"/>
          <p:nvPr>
            <p:ph idx="12" type="sldNum"/>
          </p:nvPr>
        </p:nvSpPr>
        <p:spPr>
          <a:xfrm>
            <a:off x="2913460" y="6513910"/>
            <a:ext cx="22290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0fa71de97_3_1359:notes"/>
          <p:cNvSpPr/>
          <p:nvPr>
            <p:ph idx="2" type="sldImg"/>
          </p:nvPr>
        </p:nvSpPr>
        <p:spPr>
          <a:xfrm>
            <a:off x="51435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f0fa71de97_3_1359:notes"/>
          <p:cNvSpPr txBox="1"/>
          <p:nvPr>
            <p:ph idx="1" type="body"/>
          </p:nvPr>
        </p:nvSpPr>
        <p:spPr>
          <a:xfrm>
            <a:off x="514350" y="3300413"/>
            <a:ext cx="41148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f0fa71de97_3_1359:notes"/>
          <p:cNvSpPr txBox="1"/>
          <p:nvPr>
            <p:ph idx="12" type="sldNum"/>
          </p:nvPr>
        </p:nvSpPr>
        <p:spPr>
          <a:xfrm>
            <a:off x="2913460" y="6513910"/>
            <a:ext cx="22290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0fa71de97_3_1388:notes"/>
          <p:cNvSpPr/>
          <p:nvPr>
            <p:ph idx="2" type="sldImg"/>
          </p:nvPr>
        </p:nvSpPr>
        <p:spPr>
          <a:xfrm>
            <a:off x="51435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f0fa71de97_3_1388:notes"/>
          <p:cNvSpPr txBox="1"/>
          <p:nvPr>
            <p:ph idx="1" type="body"/>
          </p:nvPr>
        </p:nvSpPr>
        <p:spPr>
          <a:xfrm>
            <a:off x="514350" y="3300413"/>
            <a:ext cx="41148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f0fa71de97_3_1388:notes"/>
          <p:cNvSpPr txBox="1"/>
          <p:nvPr>
            <p:ph idx="12" type="sldNum"/>
          </p:nvPr>
        </p:nvSpPr>
        <p:spPr>
          <a:xfrm>
            <a:off x="2913460" y="6513910"/>
            <a:ext cx="22290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21.png"/><Relationship Id="rId7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Relationship Id="rId6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p3"/>
          <p:cNvCxnSpPr/>
          <p:nvPr/>
        </p:nvCxnSpPr>
        <p:spPr>
          <a:xfrm flipH="1" rot="10800000">
            <a:off x="6583680" y="171360"/>
            <a:ext cx="864000" cy="308700"/>
          </a:xfrm>
          <a:prstGeom prst="straightConnector1">
            <a:avLst/>
          </a:prstGeom>
          <a:noFill/>
          <a:ln cap="flat" cmpd="sng" w="9525">
            <a:solidFill>
              <a:srgbClr val="02B9AD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3"/>
          <p:cNvCxnSpPr/>
          <p:nvPr/>
        </p:nvCxnSpPr>
        <p:spPr>
          <a:xfrm>
            <a:off x="6583680" y="480060"/>
            <a:ext cx="740700" cy="679200"/>
          </a:xfrm>
          <a:prstGeom prst="straightConnector1">
            <a:avLst/>
          </a:prstGeom>
          <a:noFill/>
          <a:ln cap="flat" cmpd="sng" w="9525">
            <a:solidFill>
              <a:srgbClr val="02B9AD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" name="Google Shape;14;p3"/>
          <p:cNvCxnSpPr/>
          <p:nvPr/>
        </p:nvCxnSpPr>
        <p:spPr>
          <a:xfrm>
            <a:off x="7447788" y="171450"/>
            <a:ext cx="802200" cy="555600"/>
          </a:xfrm>
          <a:prstGeom prst="straightConnector1">
            <a:avLst/>
          </a:prstGeom>
          <a:noFill/>
          <a:ln cap="flat" cmpd="sng" w="9525">
            <a:solidFill>
              <a:srgbClr val="02B9AD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" name="Google Shape;15;p3"/>
          <p:cNvCxnSpPr/>
          <p:nvPr/>
        </p:nvCxnSpPr>
        <p:spPr>
          <a:xfrm>
            <a:off x="7324344" y="1159002"/>
            <a:ext cx="802200" cy="432000"/>
          </a:xfrm>
          <a:prstGeom prst="straightConnector1">
            <a:avLst/>
          </a:prstGeom>
          <a:noFill/>
          <a:ln cap="flat" cmpd="sng" w="9525">
            <a:solidFill>
              <a:srgbClr val="02B9AD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" name="Google Shape;16;p3"/>
          <p:cNvCxnSpPr/>
          <p:nvPr/>
        </p:nvCxnSpPr>
        <p:spPr>
          <a:xfrm>
            <a:off x="8250174" y="726948"/>
            <a:ext cx="740700" cy="493800"/>
          </a:xfrm>
          <a:prstGeom prst="straightConnector1">
            <a:avLst/>
          </a:prstGeom>
          <a:noFill/>
          <a:ln cap="flat" cmpd="sng" w="9525">
            <a:solidFill>
              <a:srgbClr val="02B9AD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3"/>
          <p:cNvCxnSpPr/>
          <p:nvPr/>
        </p:nvCxnSpPr>
        <p:spPr>
          <a:xfrm flipH="1" rot="10800000">
            <a:off x="8126730" y="1220856"/>
            <a:ext cx="864000" cy="370200"/>
          </a:xfrm>
          <a:prstGeom prst="straightConnector1">
            <a:avLst/>
          </a:prstGeom>
          <a:noFill/>
          <a:ln cap="flat" cmpd="sng" w="9525">
            <a:solidFill>
              <a:srgbClr val="02B9AD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 flipH="1">
            <a:off x="6768744" y="1159002"/>
            <a:ext cx="555600" cy="493800"/>
          </a:xfrm>
          <a:prstGeom prst="straightConnector1">
            <a:avLst/>
          </a:prstGeom>
          <a:noFill/>
          <a:ln cap="flat" cmpd="sng" w="9525">
            <a:solidFill>
              <a:srgbClr val="02B9AD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7447788" y="171450"/>
            <a:ext cx="1419600" cy="185100"/>
          </a:xfrm>
          <a:prstGeom prst="straightConnector1">
            <a:avLst/>
          </a:prstGeom>
          <a:noFill/>
          <a:ln cap="flat" cmpd="sng" w="9525">
            <a:solidFill>
              <a:srgbClr val="02B9AD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 flipH="1">
            <a:off x="8126574" y="726948"/>
            <a:ext cx="123600" cy="864000"/>
          </a:xfrm>
          <a:prstGeom prst="straightConnector1">
            <a:avLst/>
          </a:prstGeom>
          <a:noFill/>
          <a:ln cap="flat" cmpd="sng" w="9525">
            <a:solidFill>
              <a:srgbClr val="02B9AD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6534302" y="430682"/>
            <a:ext cx="98700" cy="98700"/>
          </a:xfrm>
          <a:prstGeom prst="ellipse">
            <a:avLst/>
          </a:prstGeom>
          <a:solidFill>
            <a:srgbClr val="02B9A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7416927" y="140589"/>
            <a:ext cx="61800" cy="618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7293483" y="1128141"/>
            <a:ext cx="61800" cy="618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8200796" y="677570"/>
            <a:ext cx="98700" cy="98700"/>
          </a:xfrm>
          <a:prstGeom prst="ellipse">
            <a:avLst/>
          </a:prstGeom>
          <a:solidFill>
            <a:srgbClr val="02B9A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8095869" y="1560195"/>
            <a:ext cx="61800" cy="618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8959977" y="1189863"/>
            <a:ext cx="61800" cy="618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6719468" y="1603400"/>
            <a:ext cx="98700" cy="98700"/>
          </a:xfrm>
          <a:prstGeom prst="ellipse">
            <a:avLst/>
          </a:prstGeom>
          <a:solidFill>
            <a:srgbClr val="02B9A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8836533" y="325755"/>
            <a:ext cx="61800" cy="618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" name="Google Shape;29;p3"/>
          <p:cNvCxnSpPr/>
          <p:nvPr/>
        </p:nvCxnSpPr>
        <p:spPr>
          <a:xfrm flipH="1" rot="10800000">
            <a:off x="137160" y="3394740"/>
            <a:ext cx="672000" cy="240000"/>
          </a:xfrm>
          <a:prstGeom prst="straightConnector1">
            <a:avLst/>
          </a:prstGeom>
          <a:noFill/>
          <a:ln cap="flat" cmpd="sng" w="9525">
            <a:solidFill>
              <a:srgbClr val="1E3A5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3"/>
          <p:cNvCxnSpPr/>
          <p:nvPr/>
        </p:nvCxnSpPr>
        <p:spPr>
          <a:xfrm>
            <a:off x="137160" y="3634740"/>
            <a:ext cx="576000" cy="528000"/>
          </a:xfrm>
          <a:prstGeom prst="straightConnector1">
            <a:avLst/>
          </a:prstGeom>
          <a:noFill/>
          <a:ln cap="flat" cmpd="sng" w="9525">
            <a:solidFill>
              <a:srgbClr val="1E3A5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3"/>
          <p:cNvCxnSpPr/>
          <p:nvPr/>
        </p:nvCxnSpPr>
        <p:spPr>
          <a:xfrm>
            <a:off x="809244" y="3394710"/>
            <a:ext cx="624300" cy="432000"/>
          </a:xfrm>
          <a:prstGeom prst="straightConnector1">
            <a:avLst/>
          </a:prstGeom>
          <a:noFill/>
          <a:ln cap="flat" cmpd="sng" w="9525">
            <a:solidFill>
              <a:srgbClr val="1E3A5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p3"/>
          <p:cNvCxnSpPr/>
          <p:nvPr/>
        </p:nvCxnSpPr>
        <p:spPr>
          <a:xfrm>
            <a:off x="713232" y="4162806"/>
            <a:ext cx="624300" cy="336300"/>
          </a:xfrm>
          <a:prstGeom prst="straightConnector1">
            <a:avLst/>
          </a:prstGeom>
          <a:noFill/>
          <a:ln cap="flat" cmpd="sng" w="9525">
            <a:solidFill>
              <a:srgbClr val="1E3A5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" name="Google Shape;33;p3"/>
          <p:cNvCxnSpPr/>
          <p:nvPr/>
        </p:nvCxnSpPr>
        <p:spPr>
          <a:xfrm>
            <a:off x="1433322" y="3826764"/>
            <a:ext cx="576000" cy="384000"/>
          </a:xfrm>
          <a:prstGeom prst="straightConnector1">
            <a:avLst/>
          </a:prstGeom>
          <a:noFill/>
          <a:ln cap="flat" cmpd="sng" w="9525">
            <a:solidFill>
              <a:srgbClr val="1E3A5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3"/>
          <p:cNvCxnSpPr/>
          <p:nvPr/>
        </p:nvCxnSpPr>
        <p:spPr>
          <a:xfrm flipH="1" rot="10800000">
            <a:off x="1337310" y="4210848"/>
            <a:ext cx="672000" cy="288000"/>
          </a:xfrm>
          <a:prstGeom prst="straightConnector1">
            <a:avLst/>
          </a:prstGeom>
          <a:noFill/>
          <a:ln cap="flat" cmpd="sng" w="9525">
            <a:solidFill>
              <a:srgbClr val="1E3A5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" name="Google Shape;35;p3"/>
          <p:cNvCxnSpPr/>
          <p:nvPr/>
        </p:nvCxnSpPr>
        <p:spPr>
          <a:xfrm flipH="1">
            <a:off x="281232" y="4162806"/>
            <a:ext cx="432000" cy="384000"/>
          </a:xfrm>
          <a:prstGeom prst="straightConnector1">
            <a:avLst/>
          </a:prstGeom>
          <a:noFill/>
          <a:ln cap="flat" cmpd="sng" w="9525">
            <a:solidFill>
              <a:srgbClr val="1E3A5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3"/>
          <p:cNvCxnSpPr/>
          <p:nvPr/>
        </p:nvCxnSpPr>
        <p:spPr>
          <a:xfrm>
            <a:off x="809244" y="3394710"/>
            <a:ext cx="1104000" cy="144000"/>
          </a:xfrm>
          <a:prstGeom prst="straightConnector1">
            <a:avLst/>
          </a:prstGeom>
          <a:noFill/>
          <a:ln cap="flat" cmpd="sng" w="9525">
            <a:solidFill>
              <a:srgbClr val="1E3A5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3"/>
          <p:cNvCxnSpPr/>
          <p:nvPr/>
        </p:nvCxnSpPr>
        <p:spPr>
          <a:xfrm flipH="1">
            <a:off x="1337322" y="3826764"/>
            <a:ext cx="96000" cy="672000"/>
          </a:xfrm>
          <a:prstGeom prst="straightConnector1">
            <a:avLst/>
          </a:prstGeom>
          <a:noFill/>
          <a:ln cap="flat" cmpd="sng" w="9525">
            <a:solidFill>
              <a:srgbClr val="1E3A5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3"/>
          <p:cNvSpPr/>
          <p:nvPr/>
        </p:nvSpPr>
        <p:spPr>
          <a:xfrm>
            <a:off x="98755" y="3596336"/>
            <a:ext cx="76800" cy="76800"/>
          </a:xfrm>
          <a:prstGeom prst="ellipse">
            <a:avLst/>
          </a:prstGeom>
          <a:solidFill>
            <a:srgbClr val="02B9AD">
              <a:alpha val="702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785241" y="3370707"/>
            <a:ext cx="48000" cy="48000"/>
          </a:xfrm>
          <a:prstGeom prst="ellipse">
            <a:avLst/>
          </a:prstGeom>
          <a:solidFill>
            <a:srgbClr val="2DD4BF">
              <a:alpha val="702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689229" y="4138803"/>
            <a:ext cx="48000" cy="48000"/>
          </a:xfrm>
          <a:prstGeom prst="ellipse">
            <a:avLst/>
          </a:prstGeom>
          <a:solidFill>
            <a:srgbClr val="2DD4BF">
              <a:alpha val="702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1394918" y="3788360"/>
            <a:ext cx="76800" cy="76800"/>
          </a:xfrm>
          <a:prstGeom prst="ellipse">
            <a:avLst/>
          </a:prstGeom>
          <a:solidFill>
            <a:srgbClr val="02B9AD">
              <a:alpha val="702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1313307" y="4474845"/>
            <a:ext cx="48000" cy="48000"/>
          </a:xfrm>
          <a:prstGeom prst="ellipse">
            <a:avLst/>
          </a:prstGeom>
          <a:solidFill>
            <a:srgbClr val="2DD4BF">
              <a:alpha val="702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1985391" y="4186809"/>
            <a:ext cx="48000" cy="48000"/>
          </a:xfrm>
          <a:prstGeom prst="ellipse">
            <a:avLst/>
          </a:prstGeom>
          <a:solidFill>
            <a:srgbClr val="2DD4BF">
              <a:alpha val="702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242774" y="4508450"/>
            <a:ext cx="76800" cy="76800"/>
          </a:xfrm>
          <a:prstGeom prst="ellipse">
            <a:avLst/>
          </a:prstGeom>
          <a:solidFill>
            <a:srgbClr val="02B9AD">
              <a:alpha val="702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1889379" y="3514725"/>
            <a:ext cx="48000" cy="48000"/>
          </a:xfrm>
          <a:prstGeom prst="ellipse">
            <a:avLst/>
          </a:prstGeom>
          <a:solidFill>
            <a:srgbClr val="2DD4BF">
              <a:alpha val="702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514350" y="994400"/>
            <a:ext cx="919200" cy="342900"/>
          </a:xfrm>
          <a:prstGeom prst="roundRect">
            <a:avLst>
              <a:gd fmla="val 50000" name="adj"/>
            </a:avLst>
          </a:prstGeom>
          <a:solidFill>
            <a:srgbClr val="111A2E"/>
          </a:solidFill>
          <a:ln cap="flat" cmpd="sng" w="9525">
            <a:solidFill>
              <a:srgbClr val="02B9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514350" y="994400"/>
            <a:ext cx="864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B9AD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2B9AD"/>
                </a:solidFill>
                <a:latin typeface="Calibri"/>
                <a:ea typeface="Calibri"/>
                <a:cs typeface="Calibri"/>
                <a:sym typeface="Calibri"/>
              </a:rPr>
              <a:t>AI </a:t>
            </a:r>
            <a:r>
              <a:rPr b="1" lang="en-US" sz="800">
                <a:solidFill>
                  <a:srgbClr val="02B9AD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14350" y="1440180"/>
            <a:ext cx="61722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Calibri"/>
              <a:buNone/>
            </a:pPr>
            <a:r>
              <a:rPr b="1" i="0" lang="en-US" sz="6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ReSet</a:t>
            </a:r>
            <a:endParaRPr b="0" i="0" sz="6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548640" y="2366010"/>
            <a:ext cx="685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B9AD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02B9AD"/>
                </a:solidFill>
                <a:latin typeface="Courier New"/>
                <a:ea typeface="Courier New"/>
                <a:cs typeface="Courier New"/>
                <a:sym typeface="Courier New"/>
              </a:rPr>
              <a:t>RE</a:t>
            </a:r>
            <a:r>
              <a:rPr b="0" i="0" lang="en-US" sz="14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verse engineering </a:t>
            </a:r>
            <a:r>
              <a:rPr b="1" i="0" lang="en-US" sz="1400" u="none" cap="none" strike="noStrike">
                <a:solidFill>
                  <a:srgbClr val="02B9AD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z="14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tlement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514350" y="2828903"/>
            <a:ext cx="7543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정산 배치 SP AI Reverse Engineering Agent – 분석 / 코드 생성 / 검증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/>
          <p:nvPr/>
        </p:nvSpPr>
        <p:spPr>
          <a:xfrm>
            <a:off x="514350" y="356616"/>
            <a:ext cx="7292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B9A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B9AD"/>
                </a:solidFill>
                <a:latin typeface="Calibri"/>
                <a:ea typeface="Calibri"/>
                <a:cs typeface="Calibri"/>
                <a:sym typeface="Calibri"/>
              </a:rPr>
              <a:t>문제 정의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14350" y="562356"/>
            <a:ext cx="7292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Stored Procedure 마이그레이션의 어려움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8067065" y="356616"/>
            <a:ext cx="562200" cy="562200"/>
          </a:xfrm>
          <a:prstGeom prst="ellipse">
            <a:avLst/>
          </a:prstGeom>
          <a:solidFill>
            <a:srgbClr val="02B9AD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3278" y="502829"/>
            <a:ext cx="269931" cy="26993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/>
          <p:nvPr/>
        </p:nvSpPr>
        <p:spPr>
          <a:xfrm>
            <a:off x="514350" y="1110996"/>
            <a:ext cx="8115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레거시 DB의 내부 로직(SP) 현대화는 복잡한 의존성과 검증의 한계로 인해 높은 리스크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14350" y="1611630"/>
            <a:ext cx="3920400" cy="1371600"/>
          </a:xfrm>
          <a:prstGeom prst="roundRect">
            <a:avLst>
              <a:gd fmla="val 4000" name="adj"/>
            </a:avLst>
          </a:prstGeom>
          <a:solidFill>
            <a:srgbClr val="F1F5F9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754380" y="1851660"/>
            <a:ext cx="411600" cy="411600"/>
          </a:xfrm>
          <a:prstGeom prst="ellipse">
            <a:avLst/>
          </a:prstGeom>
          <a:solidFill>
            <a:srgbClr val="02B9AD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754380" y="18516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1303020" y="1858518"/>
            <a:ext cx="2960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유지보수성 저하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774954" y="2331720"/>
            <a:ext cx="33990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수천 라인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의 SQL과 복잡하게 얽힌 </a:t>
            </a: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DB 객체 의존성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탓에 영향도 분석과 로직 수정이 매우 어렵습니다.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709046" y="1611630"/>
            <a:ext cx="3920400" cy="1371600"/>
          </a:xfrm>
          <a:prstGeom prst="roundRect">
            <a:avLst>
              <a:gd fmla="val 4000" name="adj"/>
            </a:avLst>
          </a:prstGeom>
          <a:solidFill>
            <a:srgbClr val="F1F5F9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949076" y="1851660"/>
            <a:ext cx="411600" cy="411600"/>
          </a:xfrm>
          <a:prstGeom prst="ellipse">
            <a:avLst/>
          </a:prstGeom>
          <a:solidFill>
            <a:srgbClr val="02B9AD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4949076" y="18516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497716" y="1858518"/>
            <a:ext cx="2960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수동 전환 리스크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969650" y="2331720"/>
            <a:ext cx="33990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최신 프레임워크(.NET Core, Spring Batch)로의 전환이 </a:t>
            </a: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필요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하지만, 재현 과정에 </a:t>
            </a: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큰 시간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과 </a:t>
            </a: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리스크(규칙 누락, 휴먼 에러)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가 따릅니다.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14350" y="3223260"/>
            <a:ext cx="3920400" cy="1371600"/>
          </a:xfrm>
          <a:prstGeom prst="roundRect">
            <a:avLst>
              <a:gd fmla="val 4000" name="adj"/>
            </a:avLst>
          </a:prstGeom>
          <a:solidFill>
            <a:srgbClr val="F1F5F9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754380" y="3463290"/>
            <a:ext cx="411600" cy="411600"/>
          </a:xfrm>
          <a:prstGeom prst="ellipse">
            <a:avLst/>
          </a:prstGeom>
          <a:solidFill>
            <a:srgbClr val="02B9AD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754380" y="346329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303020" y="3470148"/>
            <a:ext cx="2960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검증의 한계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774954" y="3943350"/>
            <a:ext cx="33990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수동으로 재작성한 코드가 원본 로직과 완벽히 일치하는지, 데이터 </a:t>
            </a: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정합성에 오류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가 없는지 100% </a:t>
            </a: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검증이 어렵습니다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709046" y="3223260"/>
            <a:ext cx="3920400" cy="1371600"/>
          </a:xfrm>
          <a:prstGeom prst="roundRect">
            <a:avLst>
              <a:gd fmla="val 4000" name="adj"/>
            </a:avLst>
          </a:prstGeom>
          <a:solidFill>
            <a:srgbClr val="F1F5F9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949076" y="3463290"/>
            <a:ext cx="411600" cy="411600"/>
          </a:xfrm>
          <a:prstGeom prst="ellipse">
            <a:avLst/>
          </a:prstGeom>
          <a:solidFill>
            <a:srgbClr val="02B9AD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4949076" y="346329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497716" y="3470148"/>
            <a:ext cx="2960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도메인 지식 파편화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969650" y="3943350"/>
            <a:ext cx="33990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컬럼·테이블 설명이 누락되고, 오래된 주석과 실제 쿼리 연산이 모순되어 </a:t>
            </a: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비즈니스 분석이 제한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됩니다.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/>
          <p:nvPr/>
        </p:nvSpPr>
        <p:spPr>
          <a:xfrm>
            <a:off x="495025" y="2909850"/>
            <a:ext cx="8093400" cy="1392000"/>
          </a:xfrm>
          <a:prstGeom prst="roundRect">
            <a:avLst>
              <a:gd fmla="val 4571" name="adj"/>
            </a:avLst>
          </a:prstGeom>
          <a:solidFill>
            <a:srgbClr val="F1F5F9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475675" y="1473550"/>
            <a:ext cx="8112900" cy="1183500"/>
          </a:xfrm>
          <a:prstGeom prst="roundRect">
            <a:avLst>
              <a:gd fmla="val 7407" name="adj"/>
            </a:avLst>
          </a:prstGeom>
          <a:solidFill>
            <a:srgbClr val="0B1220"/>
          </a:solidFill>
          <a:ln>
            <a:noFill/>
          </a:ln>
          <a:effectLst>
            <a:outerShdw blurRad="85725" rotWithShape="0" algn="bl" dir="5400000" dist="28575">
              <a:srgbClr val="0B1220">
                <a:alpha val="1412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629825" y="1530850"/>
            <a:ext cx="7084500" cy="10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데이터베이스(DB) 속에서 돌아가는</a:t>
            </a:r>
            <a:r>
              <a:rPr lang="en-US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300">
                <a:solidFill>
                  <a:srgbClr val="02B9AD"/>
                </a:solidFill>
                <a:latin typeface="Calibri"/>
                <a:ea typeface="Calibri"/>
                <a:cs typeface="Calibri"/>
                <a:sym typeface="Calibri"/>
              </a:rPr>
              <a:t>Stored Procedure(SP)</a:t>
            </a:r>
            <a:r>
              <a:rPr lang="en-US" sz="1300">
                <a:solidFill>
                  <a:srgbClr val="02B9A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를 자율 분석하여 </a:t>
            </a:r>
            <a:r>
              <a:rPr b="1" lang="en-US" sz="1300">
                <a:solidFill>
                  <a:srgbClr val="02B9AD"/>
                </a:solidFill>
                <a:latin typeface="Calibri"/>
                <a:ea typeface="Calibri"/>
                <a:cs typeface="Calibri"/>
                <a:sym typeface="Calibri"/>
              </a:rPr>
              <a:t>명세서를 자동 생성</a:t>
            </a: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하고,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대상 프레임워크 (C#/Java) </a:t>
            </a:r>
            <a:r>
              <a:rPr b="1" lang="en-US" sz="1300">
                <a:solidFill>
                  <a:srgbClr val="02B9AD"/>
                </a:solidFill>
                <a:latin typeface="Calibri"/>
                <a:ea typeface="Calibri"/>
                <a:cs typeface="Calibri"/>
                <a:sym typeface="Calibri"/>
              </a:rPr>
              <a:t>코드로의 자율 전환</a:t>
            </a: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및 1:1 </a:t>
            </a:r>
            <a:r>
              <a:rPr b="1" lang="en-US" sz="1300">
                <a:solidFill>
                  <a:srgbClr val="02B9AD"/>
                </a:solidFill>
                <a:latin typeface="Calibri"/>
                <a:ea typeface="Calibri"/>
                <a:cs typeface="Calibri"/>
                <a:sym typeface="Calibri"/>
              </a:rPr>
              <a:t>결과 정밀 대조</a:t>
            </a: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를 보장하는 AI Agent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794414" y="3062391"/>
            <a:ext cx="447900" cy="425100"/>
          </a:xfrm>
          <a:prstGeom prst="ellipse">
            <a:avLst/>
          </a:prstGeom>
          <a:solidFill>
            <a:srgbClr val="1E293B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0901" y="3172941"/>
            <a:ext cx="215053" cy="204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/>
          <p:nvPr/>
        </p:nvSpPr>
        <p:spPr>
          <a:xfrm>
            <a:off x="1362026" y="3065630"/>
            <a:ext cx="58347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Reverse engineering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820983" y="3575608"/>
            <a:ext cx="74223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00"/>
              <a:buFont typeface="Calibri"/>
              <a:buNone/>
            </a:pPr>
            <a:r>
              <a:rPr lang="en-US" sz="13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이미 완성되어 돌아가고 있는 제품, 프로그램, 시스템을 </a:t>
            </a:r>
            <a:r>
              <a:rPr b="1" lang="en-US" sz="13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거꾸로 분석하여</a:t>
            </a:r>
            <a:r>
              <a:rPr lang="en-US" sz="13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sz="13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00"/>
              <a:buFont typeface="Calibri"/>
              <a:buNone/>
            </a:pPr>
            <a:r>
              <a:rPr lang="en-US" sz="13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내부 구조/동작 원리/설계 방식 등 </a:t>
            </a:r>
            <a:r>
              <a:rPr b="1" lang="en-US" sz="13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설계와 로직을 파악</a:t>
            </a:r>
            <a:r>
              <a:rPr lang="en-US" sz="13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하는 기법</a:t>
            </a:r>
            <a:endParaRPr sz="13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514350" y="356616"/>
            <a:ext cx="7292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2B9AD"/>
                </a:solidFill>
                <a:latin typeface="Calibri"/>
                <a:ea typeface="Calibri"/>
                <a:cs typeface="Calibri"/>
                <a:sym typeface="Calibri"/>
              </a:rPr>
              <a:t>AI Agent</a:t>
            </a:r>
            <a:endParaRPr b="0" i="0" sz="900" u="none" cap="none" strike="noStrike">
              <a:solidFill>
                <a:srgbClr val="02B9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14350" y="562356"/>
            <a:ext cx="7292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02B9AD"/>
                </a:solidFill>
                <a:latin typeface="Calibri"/>
                <a:ea typeface="Calibri"/>
                <a:cs typeface="Calibri"/>
                <a:sym typeface="Calibri"/>
              </a:rPr>
              <a:t>RE</a:t>
            </a:r>
            <a:r>
              <a:rPr b="1" lang="en-US" sz="2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verse engineering </a:t>
            </a:r>
            <a:r>
              <a:rPr b="1" lang="en-US" sz="2200">
                <a:solidFill>
                  <a:srgbClr val="02B9AD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r>
              <a:rPr b="1" lang="en-US" sz="2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tlement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8067065" y="356616"/>
            <a:ext cx="562200" cy="562200"/>
          </a:xfrm>
          <a:prstGeom prst="ellipse">
            <a:avLst/>
          </a:prstGeom>
          <a:solidFill>
            <a:srgbClr val="02B9AD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5" title="느낌표_아이콘_흰색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42524" y="432073"/>
            <a:ext cx="411300" cy="41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/>
          <p:nvPr/>
        </p:nvSpPr>
        <p:spPr>
          <a:xfrm>
            <a:off x="514350" y="356616"/>
            <a:ext cx="7292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AI Agent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514350" y="562356"/>
            <a:ext cx="7292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ReSet 아키텍처 및 구성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8067065" y="356616"/>
            <a:ext cx="562200" cy="562200"/>
          </a:xfrm>
          <a:prstGeom prst="ellipse">
            <a:avLst/>
          </a:prstGeom>
          <a:solidFill>
            <a:srgbClr val="02B9AD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3278" y="502829"/>
            <a:ext cx="269931" cy="26993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6"/>
          <p:cNvSpPr/>
          <p:nvPr/>
        </p:nvSpPr>
        <p:spPr>
          <a:xfrm>
            <a:off x="514350" y="1268730"/>
            <a:ext cx="2522400" cy="3326100"/>
          </a:xfrm>
          <a:prstGeom prst="roundRect">
            <a:avLst>
              <a:gd fmla="val 24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514350" y="1268725"/>
            <a:ext cx="2522400" cy="697800"/>
          </a:xfrm>
          <a:prstGeom prst="roundRect">
            <a:avLst>
              <a:gd fmla="val 6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548649" y="1483600"/>
            <a:ext cx="24882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지능형 분석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(Analyzer)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788675" y="2192600"/>
            <a:ext cx="2007900" cy="2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700" lvl="0" marL="1397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Char char="•"/>
            </a:pPr>
            <a:r>
              <a:rPr b="1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DFS </a:t>
            </a: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기반 재귀적 의존성 탐색 (SP/테이블/뷰/UDF)</a:t>
            </a:r>
            <a:endParaRPr b="0" i="0" sz="100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1397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Char char="•"/>
            </a:pPr>
            <a:r>
              <a:rPr b="1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ScriptDom AST </a:t>
            </a: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분석 및 CRUD 분류 (SELECT/INSERT 등)</a:t>
            </a:r>
            <a:endParaRPr b="0" i="0" sz="100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1397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설명 </a:t>
            </a:r>
            <a:r>
              <a:rPr b="1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누락 컬럼 역추론</a:t>
            </a: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및 </a:t>
            </a:r>
            <a:r>
              <a:rPr b="1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코드-주석 불일치 감지</a:t>
            </a: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정화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3310814" y="1268730"/>
            <a:ext cx="2522400" cy="3326100"/>
          </a:xfrm>
          <a:prstGeom prst="roundRect">
            <a:avLst>
              <a:gd fmla="val 24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3310825" y="1268726"/>
            <a:ext cx="2522400" cy="697800"/>
          </a:xfrm>
          <a:prstGeom prst="roundRect">
            <a:avLst>
              <a:gd fmla="val 6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3345125" y="1483600"/>
            <a:ext cx="24882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자율 코드 생성 및 교정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(Codegen)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3585137" y="2192600"/>
            <a:ext cx="2007900" cy="2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700" lvl="0" marL="1397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Char char="•"/>
            </a:pPr>
            <a:r>
              <a:rPr b="1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마이그레이션 지시서 번들 패키징 </a:t>
            </a: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(설계서/DDL/스키마)</a:t>
            </a:r>
            <a:endParaRPr b="0" i="0" sz="100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1397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Char char="•"/>
            </a:pPr>
            <a:r>
              <a:rPr b="1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TDD 단위 테스트</a:t>
            </a: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및 </a:t>
            </a:r>
            <a:r>
              <a:rPr b="1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ArchUnit 아키텍처 규칙 </a:t>
            </a: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선제 공급</a:t>
            </a:r>
            <a:endParaRPr b="0" i="0" sz="100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1397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L0 빌드/테스트 감지 및 피드백 기반 </a:t>
            </a:r>
            <a:r>
              <a:rPr b="1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자가 수정(Self-Correction) </a:t>
            </a: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조율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107278" y="1268730"/>
            <a:ext cx="2522400" cy="3326100"/>
          </a:xfrm>
          <a:prstGeom prst="roundRect">
            <a:avLst>
              <a:gd fmla="val 24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6107275" y="1268726"/>
            <a:ext cx="2522400" cy="697800"/>
          </a:xfrm>
          <a:prstGeom prst="roundRect">
            <a:avLst>
              <a:gd fmla="val 6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6141601" y="1483600"/>
            <a:ext cx="24882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런타임 정합성 검증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(Validator)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381600" y="2192600"/>
            <a:ext cx="2007900" cy="2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700" lvl="0" marL="1397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Char char="•"/>
            </a:pPr>
            <a:r>
              <a:rPr b="1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관계지향 모의 데이터 </a:t>
            </a: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Sandbox Seeding 및 자동 소거</a:t>
            </a:r>
            <a:endParaRPr b="0" i="0" sz="100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1397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C# 리플렉션 롤백 및 Java IPC 통신 기반 런타임 격리</a:t>
            </a:r>
            <a:endParaRPr b="0" i="0" sz="100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1397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Char char="•"/>
            </a:pPr>
            <a:r>
              <a:rPr b="1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양방향 결과셋 1:1 값 정밀 대조 </a:t>
            </a: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및 비교 보고서 발행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/>
          <p:nvPr/>
        </p:nvSpPr>
        <p:spPr>
          <a:xfrm>
            <a:off x="514350" y="356616"/>
            <a:ext cx="7292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B9AD"/>
                </a:solidFill>
                <a:latin typeface="Calibri"/>
                <a:ea typeface="Calibri"/>
                <a:cs typeface="Calibri"/>
                <a:sym typeface="Calibri"/>
              </a:rPr>
              <a:t>Analyzer · 01</a:t>
            </a:r>
            <a:endParaRPr b="0" i="0" sz="900" u="none" cap="none" strike="noStrike">
              <a:solidFill>
                <a:srgbClr val="02B9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14350" y="562356"/>
            <a:ext cx="7292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재귀적 의존성 분석 메커니즘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8067065" y="356616"/>
            <a:ext cx="562200" cy="562200"/>
          </a:xfrm>
          <a:prstGeom prst="ellipse">
            <a:avLst/>
          </a:prstGeom>
          <a:solidFill>
            <a:srgbClr val="02B9AD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5" name="Google Shape;1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3278" y="502829"/>
            <a:ext cx="269931" cy="26993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7"/>
          <p:cNvSpPr/>
          <p:nvPr/>
        </p:nvSpPr>
        <p:spPr>
          <a:xfrm>
            <a:off x="514350" y="1303020"/>
            <a:ext cx="3920400" cy="3257700"/>
          </a:xfrm>
          <a:prstGeom prst="roundRect">
            <a:avLst>
              <a:gd fmla="val 1895" name="adj"/>
            </a:avLst>
          </a:prstGeom>
          <a:solidFill>
            <a:srgbClr val="F1F5F9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788670" y="1577340"/>
            <a:ext cx="493800" cy="493800"/>
          </a:xfrm>
          <a:prstGeom prst="ellipse">
            <a:avLst/>
          </a:prstGeom>
          <a:solidFill>
            <a:srgbClr val="02B9AD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052" y="1705722"/>
            <a:ext cx="237013" cy="23701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/>
          <p:nvPr/>
        </p:nvSpPr>
        <p:spPr>
          <a:xfrm>
            <a:off x="1405890" y="1577340"/>
            <a:ext cx="28230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재귀적 의존성 분석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822960" y="2297430"/>
            <a:ext cx="3303300" cy="20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재귀적 DFS 탐색 수집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sys.sql_expression_dependencies 활용, 연관 DB 객체 자동 탐색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동적 SQL Regex 2차 스캔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EXEC, sp_executesql 등 카탈로그 뷰 예외 구문 탐지 및 수집 병합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순환 참조 방지 설계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HashSet 기반의 무한 루프 차단 및 DB 부하 방지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709046" y="1303020"/>
            <a:ext cx="3920400" cy="3257700"/>
          </a:xfrm>
          <a:prstGeom prst="roundRect">
            <a:avLst>
              <a:gd fmla="val 1895" name="adj"/>
            </a:avLst>
          </a:prstGeom>
          <a:solidFill>
            <a:srgbClr val="E8F1F4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4983366" y="1577340"/>
            <a:ext cx="493800" cy="493800"/>
          </a:xfrm>
          <a:prstGeom prst="ellipse">
            <a:avLst/>
          </a:prstGeom>
          <a:solidFill>
            <a:srgbClr val="02B9AD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" name="Google Shape;13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1747" y="1705722"/>
            <a:ext cx="237013" cy="23701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7"/>
          <p:cNvSpPr/>
          <p:nvPr/>
        </p:nvSpPr>
        <p:spPr>
          <a:xfrm>
            <a:off x="5600586" y="1577340"/>
            <a:ext cx="28230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메타데이터 수집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017650" y="2297425"/>
            <a:ext cx="3465600" cy="20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정밀 스키마 정보 추출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타입, Null여부, PK/FK, DefaultValue, Identity 및 인덱스 정보 수집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한글 도메인 지식 맵핑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MS_Description 주석을 추출하여 AI 분석의 비즈니스 맥락으로 활용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Soft Fail 안정성 정책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조회 권한 누락 등 예외 발생 시, Warnings에 기록하고 정상 분석 진행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/>
          <p:nvPr/>
        </p:nvSpPr>
        <p:spPr>
          <a:xfrm>
            <a:off x="514350" y="356616"/>
            <a:ext cx="7292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B9A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B9AD"/>
                </a:solidFill>
                <a:latin typeface="Calibri"/>
                <a:ea typeface="Calibri"/>
                <a:cs typeface="Calibri"/>
                <a:sym typeface="Calibri"/>
              </a:rPr>
              <a:t>Analyzer · 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514350" y="562356"/>
            <a:ext cx="7292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메타데이터 정화 및 주석 보완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8067065" y="356616"/>
            <a:ext cx="562200" cy="562200"/>
          </a:xfrm>
          <a:prstGeom prst="ellipse">
            <a:avLst/>
          </a:prstGeom>
          <a:solidFill>
            <a:srgbClr val="02B9AD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3278" y="502829"/>
            <a:ext cx="269931" cy="26993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"/>
          <p:cNvSpPr/>
          <p:nvPr/>
        </p:nvSpPr>
        <p:spPr>
          <a:xfrm>
            <a:off x="514350" y="1303020"/>
            <a:ext cx="3920400" cy="3257700"/>
          </a:xfrm>
          <a:prstGeom prst="roundRect">
            <a:avLst>
              <a:gd fmla="val 1895" name="adj"/>
            </a:avLst>
          </a:prstGeom>
          <a:solidFill>
            <a:srgbClr val="F1F5F9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788670" y="1577340"/>
            <a:ext cx="493800" cy="493800"/>
          </a:xfrm>
          <a:prstGeom prst="ellipse">
            <a:avLst/>
          </a:prstGeom>
          <a:solidFill>
            <a:srgbClr val="02B9AD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052" y="1705722"/>
            <a:ext cx="237013" cy="23701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8"/>
          <p:cNvSpPr/>
          <p:nvPr/>
        </p:nvSpPr>
        <p:spPr>
          <a:xfrm>
            <a:off x="1405890" y="1577340"/>
            <a:ext cx="28230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지능형 도메인 보완 및 오류 감지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822960" y="2297430"/>
            <a:ext cx="3303300" cy="20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설명 누락 컬럼 역추론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[AI 추론 보완: Schema.Table.Column - 설명] 양식 자동 주입</a:t>
            </a:r>
            <a:endParaRPr sz="10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t/>
            </a:r>
            <a:endParaRPr sz="10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JOIN, WHERE, 대입 등 SP 연산 문맥을 분석하여 용도 유추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코드-주석 불일치 감지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자연어 주석과 실제 SQL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쿼리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간의 모순점 추적 및 감지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실제 쿼리 코드를 진실의 원천으로 개요 최상단에 경고 명시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709046" y="1303020"/>
            <a:ext cx="3920400" cy="3257700"/>
          </a:xfrm>
          <a:prstGeom prst="roundRect">
            <a:avLst>
              <a:gd fmla="val 1895" name="adj"/>
            </a:avLst>
          </a:prstGeom>
          <a:solidFill>
            <a:srgbClr val="E8F1F4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4983366" y="1577340"/>
            <a:ext cx="493800" cy="493800"/>
          </a:xfrm>
          <a:prstGeom prst="ellipse">
            <a:avLst/>
          </a:prstGeom>
          <a:solidFill>
            <a:srgbClr val="02B9AD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2" name="Google Shape;15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1747" y="1705722"/>
            <a:ext cx="237013" cy="237013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"/>
          <p:cNvSpPr/>
          <p:nvPr/>
        </p:nvSpPr>
        <p:spPr>
          <a:xfrm>
            <a:off x="5600586" y="1577340"/>
            <a:ext cx="28230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클렌징 스크립트 덤프 및 동기화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5017656" y="2297430"/>
            <a:ext cx="3303300" cy="20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SQL 클렌징 스크립트 자동 생성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AI 역추론 설명을 DB 확장 속성에 채우기 위한 DDL 구성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sp_add/updateextendedproperty 기반 클렌징 쿼리 자동 덤프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선택적 DB 메타데이터 동기화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실제 DB 쓰기는 개발자가 최종 승인/동의할 경우에만 수행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동기화 후 차기 분석 시 정화된 메타데이터를 기반으로 정확도 제고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/>
          <p:nvPr/>
        </p:nvSpPr>
        <p:spPr>
          <a:xfrm>
            <a:off x="514350" y="356616"/>
            <a:ext cx="7292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B9A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B9AD"/>
                </a:solidFill>
                <a:latin typeface="Calibri"/>
                <a:ea typeface="Calibri"/>
                <a:cs typeface="Calibri"/>
                <a:sym typeface="Calibri"/>
              </a:rPr>
              <a:t>Reliability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514350" y="562356"/>
            <a:ext cx="7292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3단계 신뢰성 검증 파이프라인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8067065" y="356616"/>
            <a:ext cx="562200" cy="562200"/>
          </a:xfrm>
          <a:prstGeom prst="ellipse">
            <a:avLst/>
          </a:prstGeom>
          <a:solidFill>
            <a:srgbClr val="02B9AD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3" name="Google Shape;1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3278" y="502829"/>
            <a:ext cx="269931" cy="26993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9"/>
          <p:cNvSpPr/>
          <p:nvPr/>
        </p:nvSpPr>
        <p:spPr>
          <a:xfrm>
            <a:off x="514350" y="1337310"/>
            <a:ext cx="2522400" cy="3120300"/>
          </a:xfrm>
          <a:prstGeom prst="roundRect">
            <a:avLst>
              <a:gd fmla="val 24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514350" y="1337310"/>
            <a:ext cx="2522400" cy="651600"/>
          </a:xfrm>
          <a:prstGeom prst="roundRect">
            <a:avLst>
              <a:gd fmla="val 9474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514350" y="1680210"/>
            <a:ext cx="2522400" cy="308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733806" y="1337310"/>
            <a:ext cx="21450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Level 1</a:t>
            </a:r>
            <a:r>
              <a:rPr b="1" i="0" lang="en-US" sz="1200" u="none" cap="none" strike="noStrike">
                <a:solidFill>
                  <a:srgbClr val="E0F2FE"/>
                </a:solidFill>
                <a:latin typeface="Calibri"/>
                <a:ea typeface="Calibri"/>
                <a:cs typeface="Calibri"/>
                <a:sym typeface="Calibri"/>
              </a:rPr>
              <a:t>: 기계적 정적 검증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788670" y="2160270"/>
            <a:ext cx="2007900" cy="21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6050" lvl="0" marL="1397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1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Markdig AST </a:t>
            </a: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분석을 통한 5대 필수 헤더 누락 정적 검사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13970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Mermaid 다이어그램 백그라운드 </a:t>
            </a:r>
            <a:r>
              <a:rPr b="1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컴파일(mmdc) 검증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13970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오류 감지 시 </a:t>
            </a:r>
            <a:r>
              <a:rPr b="1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AI에 정형화된 피드백 </a:t>
            </a: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전달 및 </a:t>
            </a:r>
            <a:r>
              <a:rPr b="1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자가 수정</a:t>
            </a: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실행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3310814" y="1337310"/>
            <a:ext cx="2522400" cy="3120300"/>
          </a:xfrm>
          <a:prstGeom prst="roundRect">
            <a:avLst>
              <a:gd fmla="val 24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3310814" y="1337310"/>
            <a:ext cx="2522400" cy="651600"/>
          </a:xfrm>
          <a:prstGeom prst="roundRect">
            <a:avLst>
              <a:gd fmla="val 9474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3310814" y="1680210"/>
            <a:ext cx="2522400" cy="308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3530270" y="1337310"/>
            <a:ext cx="21450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Level 2</a:t>
            </a:r>
            <a:r>
              <a:rPr b="1" i="0" lang="en-US" sz="1200" u="none" cap="none" strike="noStrike">
                <a:solidFill>
                  <a:srgbClr val="E0F2FE"/>
                </a:solidFill>
                <a:latin typeface="Calibri"/>
                <a:ea typeface="Calibri"/>
                <a:cs typeface="Calibri"/>
                <a:sym typeface="Calibri"/>
              </a:rPr>
              <a:t>: AI 교차 리뷰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3585134" y="2160270"/>
            <a:ext cx="2007900" cy="21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6050" lvl="0" marL="1397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이종 </a:t>
            </a:r>
            <a:r>
              <a:rPr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Critic </a:t>
            </a: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에이전트</a:t>
            </a:r>
            <a:r>
              <a:rPr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평가 피드백 </a:t>
            </a: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및 </a:t>
            </a:r>
            <a:r>
              <a:rPr b="1"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자가 수정</a:t>
            </a: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루프</a:t>
            </a:r>
            <a:endParaRPr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13970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1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Low/Med/High</a:t>
            </a: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3종 후보 중 </a:t>
            </a:r>
            <a:r>
              <a:rPr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Critic 에이전트 </a:t>
            </a:r>
            <a:r>
              <a:rPr b="1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정량 채점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13970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90점 이상 Fast-Pass 채택, 미달 시 Consolidator 부위별 </a:t>
            </a:r>
            <a:r>
              <a:rPr b="1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합성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6107278" y="1337310"/>
            <a:ext cx="2522400" cy="3120300"/>
          </a:xfrm>
          <a:prstGeom prst="roundRect">
            <a:avLst>
              <a:gd fmla="val 24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6107278" y="1337310"/>
            <a:ext cx="2522400" cy="651600"/>
          </a:xfrm>
          <a:prstGeom prst="roundRect">
            <a:avLst>
              <a:gd fmla="val 9474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6107278" y="1680210"/>
            <a:ext cx="2522400" cy="308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6326734" y="1337310"/>
            <a:ext cx="21450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Level 3</a:t>
            </a:r>
            <a:r>
              <a:rPr b="1" i="0" lang="en-US" sz="1200" u="none" cap="none" strike="noStrike">
                <a:solidFill>
                  <a:srgbClr val="E0F2FE"/>
                </a:solidFill>
                <a:latin typeface="Calibri"/>
                <a:ea typeface="Calibri"/>
                <a:cs typeface="Calibri"/>
                <a:sym typeface="Calibri"/>
              </a:rPr>
              <a:t>: 인간 승인 피드백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6381598" y="2160270"/>
            <a:ext cx="2007900" cy="21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6050" lvl="0" marL="1397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TUI 실시간 </a:t>
            </a:r>
            <a:r>
              <a:rPr b="1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미리보기 제공</a:t>
            </a: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및 승인/반려/수동 피드백 수렴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13970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최종 승인 시 DB Extended Property </a:t>
            </a:r>
            <a:r>
              <a:rPr b="1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역동기화 지원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0" marL="139700" marR="0" rtl="0"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배치 실행 모드 시 L3 프롬프트 단계를 생략하고 자동 우회 승인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/>
          <p:nvPr/>
        </p:nvSpPr>
        <p:spPr>
          <a:xfrm>
            <a:off x="514350" y="356616"/>
            <a:ext cx="7292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B9A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B9AD"/>
                </a:solidFill>
                <a:latin typeface="Calibri"/>
                <a:ea typeface="Calibri"/>
                <a:cs typeface="Calibri"/>
                <a:sym typeface="Calibri"/>
              </a:rPr>
              <a:t>Reliability · L2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514350" y="562356"/>
            <a:ext cx="7292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AI 교차 리뷰 (L2 Actor-Critic) 메커니즘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8067065" y="356616"/>
            <a:ext cx="562200" cy="562200"/>
          </a:xfrm>
          <a:prstGeom prst="ellipse">
            <a:avLst/>
          </a:prstGeom>
          <a:solidFill>
            <a:srgbClr val="02B9AD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7" name="Google Shape;18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3278" y="502829"/>
            <a:ext cx="269931" cy="26993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0"/>
          <p:cNvSpPr/>
          <p:nvPr/>
        </p:nvSpPr>
        <p:spPr>
          <a:xfrm>
            <a:off x="514350" y="1268730"/>
            <a:ext cx="3920400" cy="3326100"/>
          </a:xfrm>
          <a:prstGeom prst="roundRect">
            <a:avLst>
              <a:gd fmla="val 1856" name="adj"/>
            </a:avLst>
          </a:prstGeom>
          <a:solidFill>
            <a:srgbClr val="F1F5F9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89" name="Google Shape;189;p10"/>
          <p:cNvSpPr/>
          <p:nvPr/>
        </p:nvSpPr>
        <p:spPr>
          <a:xfrm>
            <a:off x="822960" y="1508760"/>
            <a:ext cx="3303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1. 실행 모드 이원화 (ActorEffort)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822960" y="1988820"/>
            <a:ext cx="3303300" cy="24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단일 모드 (Single Mode)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지정된 </a:t>
            </a: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추론 강도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로 1차 명세서 빌드 진행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이종 Critic 에이전트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의 5대 기준 평가 피드백 획득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결함 시 maxAttempts 한도 내 자가 수정 루프 가동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0E7490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dynamic 모드 (병렬 협업)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다형성 및 앙상블 효과 극대화를 위한 다단계 협업 프로세스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차등 생성, Critic 채점, Consolidator 합성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을 결합하여 무결점 도출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4709046" y="1268730"/>
            <a:ext cx="3920400" cy="3326100"/>
          </a:xfrm>
          <a:prstGeom prst="roundRect">
            <a:avLst>
              <a:gd fmla="val 1856" name="adj"/>
            </a:avLst>
          </a:prstGeom>
          <a:solidFill>
            <a:srgbClr val="E8F1F4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92" name="Google Shape;192;p10"/>
          <p:cNvSpPr/>
          <p:nvPr/>
        </p:nvSpPr>
        <p:spPr>
          <a:xfrm>
            <a:off x="5017656" y="1508760"/>
            <a:ext cx="3303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2. dynamic 모드 3단계 프로세스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5017656" y="1988820"/>
            <a:ext cx="3303300" cy="24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1단계: 차등 Effort 병렬 생성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동일 SP에 대해 </a:t>
            </a: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low, medium, high 추론 강도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를 병렬 구동하여 다각적 장점을 가진 3종의 후보 명세서 확보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0E7490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2단계: Critic 채점 및 Fast-Pass 판정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정밀 채점(5대 기준 각 10점, 총 50점 만점) 후 100점 정규화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무결점 &amp; 90점 이상 후보는 </a:t>
            </a: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Fast-Pass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로 즉시 채택 (합성 생략)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0E7490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3단계: Consolidation 합성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우수 후보 부재 시, 각 후보별 최고 득점을 기록한 우수 영역을 진실의 원천으로 조립 및 </a:t>
            </a:r>
            <a:r>
              <a:rPr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단일 통합 </a:t>
            </a: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명세서 합성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/>
          <p:nvPr/>
        </p:nvSpPr>
        <p:spPr>
          <a:xfrm>
            <a:off x="514350" y="356616"/>
            <a:ext cx="7292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B9A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B9AD"/>
                </a:solidFill>
                <a:latin typeface="Calibri"/>
                <a:ea typeface="Calibri"/>
                <a:cs typeface="Calibri"/>
                <a:sym typeface="Calibri"/>
              </a:rPr>
              <a:t>Validator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514350" y="562356"/>
            <a:ext cx="7292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정합성 검증 및 Sandbox Seeding 메커니즘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8067065" y="356616"/>
            <a:ext cx="562200" cy="562200"/>
          </a:xfrm>
          <a:prstGeom prst="ellipse">
            <a:avLst/>
          </a:prstGeom>
          <a:solidFill>
            <a:srgbClr val="02B9AD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2" name="Google Shape;2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3278" y="502829"/>
            <a:ext cx="269931" cy="26993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1"/>
          <p:cNvSpPr/>
          <p:nvPr/>
        </p:nvSpPr>
        <p:spPr>
          <a:xfrm>
            <a:off x="514350" y="1234440"/>
            <a:ext cx="8115000" cy="651600"/>
          </a:xfrm>
          <a:prstGeom prst="roundRect">
            <a:avLst>
              <a:gd fmla="val 842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649710" y="1234440"/>
            <a:ext cx="19887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000"/>
              <a:buFont typeface="Calibri"/>
              <a:buNone/>
            </a:pPr>
            <a:r>
              <a:rPr b="1" i="0" lang="en-US" sz="11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Sandbox Seeding 라이프사이클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5" name="Google Shape;205;p11"/>
          <p:cNvGrpSpPr/>
          <p:nvPr/>
        </p:nvGrpSpPr>
        <p:grpSpPr>
          <a:xfrm>
            <a:off x="2480577" y="1397886"/>
            <a:ext cx="270000" cy="270000"/>
            <a:chOff x="2708902" y="1395601"/>
            <a:chExt cx="270000" cy="270000"/>
          </a:xfrm>
        </p:grpSpPr>
        <p:sp>
          <p:nvSpPr>
            <p:cNvPr id="206" name="Google Shape;206;p11"/>
            <p:cNvSpPr/>
            <p:nvPr/>
          </p:nvSpPr>
          <p:spPr>
            <a:xfrm>
              <a:off x="2708902" y="1395601"/>
              <a:ext cx="270000" cy="270000"/>
            </a:xfrm>
            <a:prstGeom prst="ellipse">
              <a:avLst/>
            </a:prstGeom>
            <a:solidFill>
              <a:srgbClr val="02B9AD"/>
            </a:solidFill>
            <a:ln>
              <a:noFill/>
            </a:ln>
            <a:effectLst>
              <a:outerShdw blurRad="66675" rotWithShape="0" algn="bl" dir="5400000" dist="19050">
                <a:srgbClr val="0B1220">
                  <a:alpha val="10199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1"/>
            <p:cNvSpPr/>
            <p:nvPr/>
          </p:nvSpPr>
          <p:spPr>
            <a:xfrm>
              <a:off x="2782257" y="1471227"/>
              <a:ext cx="123300" cy="12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Calibri"/>
                <a:buNone/>
              </a:pPr>
              <a:r>
                <a:rPr b="1" i="0" lang="en-US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p11"/>
          <p:cNvSpPr/>
          <p:nvPr/>
        </p:nvSpPr>
        <p:spPr>
          <a:xfrm>
            <a:off x="2819850" y="1303124"/>
            <a:ext cx="9744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참조 무결성을 준수하는 </a:t>
            </a:r>
            <a:r>
              <a:rPr b="1" i="0" lang="en-US" sz="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가상 데이터(Mock) </a:t>
            </a:r>
            <a:r>
              <a:rPr b="0" i="0" lang="en-US" sz="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생성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9" name="Google Shape;20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75273" y="1484852"/>
            <a:ext cx="123444" cy="1234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0" name="Google Shape;21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44560" y="1484852"/>
            <a:ext cx="123444" cy="1234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1" name="Google Shape;21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3848" y="1484852"/>
            <a:ext cx="123444" cy="1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1"/>
          <p:cNvSpPr/>
          <p:nvPr/>
        </p:nvSpPr>
        <p:spPr>
          <a:xfrm>
            <a:off x="514350" y="2023110"/>
            <a:ext cx="3920400" cy="1200300"/>
          </a:xfrm>
          <a:prstGeom prst="roundRect">
            <a:avLst>
              <a:gd fmla="val 4571" name="adj"/>
            </a:avLst>
          </a:prstGeom>
          <a:solidFill>
            <a:srgbClr val="F1F5F9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733806" y="2132751"/>
            <a:ext cx="384000" cy="384000"/>
          </a:xfrm>
          <a:prstGeom prst="ellipse">
            <a:avLst/>
          </a:prstGeom>
          <a:solidFill>
            <a:srgbClr val="02B9AD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4" name="Google Shape;21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3659" y="2232604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1"/>
          <p:cNvSpPr/>
          <p:nvPr/>
        </p:nvSpPr>
        <p:spPr>
          <a:xfrm>
            <a:off x="1234440" y="2132751"/>
            <a:ext cx="302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Legacy SQL Server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754380" y="2613054"/>
            <a:ext cx="34404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설계된 테스트 파라미터로 레거시 DB Stored Procedure를 동적 실행하여 ResultSet을 JSON 덤프로 수집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4709046" y="2023110"/>
            <a:ext cx="3920400" cy="1200300"/>
          </a:xfrm>
          <a:prstGeom prst="roundRect">
            <a:avLst>
              <a:gd fmla="val 4571" name="adj"/>
            </a:avLst>
          </a:prstGeom>
          <a:solidFill>
            <a:srgbClr val="E8F1F4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4928502" y="2132751"/>
            <a:ext cx="384000" cy="384000"/>
          </a:xfrm>
          <a:prstGeom prst="ellipse">
            <a:avLst/>
          </a:prstGeom>
          <a:solidFill>
            <a:srgbClr val="02B9AD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9" name="Google Shape;21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8354" y="2232604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1"/>
          <p:cNvSpPr/>
          <p:nvPr/>
        </p:nvSpPr>
        <p:spPr>
          <a:xfrm>
            <a:off x="5429136" y="2132751"/>
            <a:ext cx="302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Target Runtime (C#/Java)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4949076" y="2613054"/>
            <a:ext cx="34404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동적 라이브러리 로딩 및 트랜잭션 강제 롤백을 통한 데이터베이스 격리</a:t>
            </a: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독립 프로세스 기동 및 타임아웃 제어를 통한 런타임 격리를 적용하여 대상 로직의 수행 결과를 JSON 포맷의 스트림으로 수집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514350" y="3360420"/>
            <a:ext cx="8115000" cy="1062900"/>
          </a:xfrm>
          <a:prstGeom prst="roundRect">
            <a:avLst>
              <a:gd fmla="val 6452" name="adj"/>
            </a:avLst>
          </a:prstGeom>
          <a:solidFill>
            <a:srgbClr val="0B1220"/>
          </a:solidFill>
          <a:ln>
            <a:noFill/>
          </a:ln>
          <a:effectLst>
            <a:outerShdw blurRad="85725" rotWithShape="0" algn="bl" dir="5400000" dist="28575">
              <a:srgbClr val="0B1220">
                <a:alpha val="1412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788670" y="3648456"/>
            <a:ext cx="480300" cy="480300"/>
          </a:xfrm>
          <a:prstGeom prst="ellipse">
            <a:avLst/>
          </a:prstGeom>
          <a:solidFill>
            <a:srgbClr val="02B9AD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4" name="Google Shape;224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3486" y="3773272"/>
            <a:ext cx="230428" cy="230428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1"/>
          <p:cNvSpPr/>
          <p:nvPr/>
        </p:nvSpPr>
        <p:spPr>
          <a:xfrm>
            <a:off x="1405890" y="3552444"/>
            <a:ext cx="69492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양방향 결과셋 1:1 값 정밀 대조 검증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1405890" y="3854196"/>
            <a:ext cx="69492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소수점 끝자리 차이 및 날짜 포맷팅에 따른 거짓 불일치(False Positive) 방지를 위해 </a:t>
            </a:r>
            <a:r>
              <a:rPr b="1" i="0" lang="en-US" sz="1000" u="none" cap="none" strike="noStrike">
                <a:solidFill>
                  <a:srgbClr val="2DD4BF"/>
                </a:solidFill>
                <a:latin typeface="Courier New"/>
                <a:ea typeface="Courier New"/>
                <a:cs typeface="Courier New"/>
                <a:sym typeface="Courier New"/>
              </a:rPr>
              <a:t>NormalizeValueString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을 적용하여 </a:t>
            </a:r>
            <a:r>
              <a:rPr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데이터 타입을 정형화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한 후, 1:1 대조 비교 보고서(</a:t>
            </a:r>
            <a:r>
              <a:rPr b="0" i="0" lang="en-US" sz="1000" u="none" cap="none" strike="noStrike">
                <a:solidFill>
                  <a:srgbClr val="2DD4BF"/>
                </a:solidFill>
                <a:latin typeface="Courier New"/>
                <a:ea typeface="Courier New"/>
                <a:cs typeface="Courier New"/>
                <a:sym typeface="Courier New"/>
              </a:rPr>
              <a:t>*_CompareReport.md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)를 발행합니다.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7" name="Google Shape;227;p11"/>
          <p:cNvGrpSpPr/>
          <p:nvPr/>
        </p:nvGrpSpPr>
        <p:grpSpPr>
          <a:xfrm>
            <a:off x="4079739" y="1303124"/>
            <a:ext cx="1283798" cy="486900"/>
            <a:chOff x="3953627" y="1289436"/>
            <a:chExt cx="1283798" cy="486900"/>
          </a:xfrm>
        </p:grpSpPr>
        <p:sp>
          <p:nvSpPr>
            <p:cNvPr id="228" name="Google Shape;228;p11"/>
            <p:cNvSpPr/>
            <p:nvPr/>
          </p:nvSpPr>
          <p:spPr>
            <a:xfrm>
              <a:off x="4263026" y="1289436"/>
              <a:ext cx="974400" cy="48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800"/>
                <a:buFont typeface="Calibri"/>
                <a:buNone/>
              </a:pPr>
              <a:r>
                <a:rPr b="0" i="0" lang="en-US" sz="800" u="none" cap="none" strike="noStrike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테스트 시작 전 Sandbox DB에 </a:t>
              </a:r>
              <a:r>
                <a:rPr b="1" i="0" lang="en-US" sz="800" u="none" cap="none" strike="noStrike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자동 적재(Seed)</a:t>
              </a:r>
              <a:endParaRPr b="1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9" name="Google Shape;229;p11"/>
            <p:cNvGrpSpPr/>
            <p:nvPr/>
          </p:nvGrpSpPr>
          <p:grpSpPr>
            <a:xfrm>
              <a:off x="3953627" y="1397876"/>
              <a:ext cx="270000" cy="270000"/>
              <a:chOff x="2708902" y="1395601"/>
              <a:chExt cx="270000" cy="270000"/>
            </a:xfrm>
          </p:grpSpPr>
          <p:sp>
            <p:nvSpPr>
              <p:cNvPr id="230" name="Google Shape;230;p11"/>
              <p:cNvSpPr/>
              <p:nvPr/>
            </p:nvSpPr>
            <p:spPr>
              <a:xfrm>
                <a:off x="2708902" y="1395601"/>
                <a:ext cx="270000" cy="270000"/>
              </a:xfrm>
              <a:prstGeom prst="ellipse">
                <a:avLst/>
              </a:prstGeom>
              <a:solidFill>
                <a:srgbClr val="02B9AD"/>
              </a:solidFill>
              <a:ln>
                <a:noFill/>
              </a:ln>
              <a:effectLst>
                <a:outerShdw blurRad="66675" rotWithShape="0" algn="bl" dir="5400000" dist="19050">
                  <a:srgbClr val="0B1220">
                    <a:alpha val="10199"/>
                  </a:srgbClr>
                </a:outerShdw>
              </a:effectLst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>
                <a:off x="2782257" y="1471227"/>
                <a:ext cx="123300" cy="12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900"/>
                  <a:buFont typeface="Calibri"/>
                  <a:buNone/>
                </a:pPr>
                <a:r>
                  <a:rPr b="1" lang="en-US" sz="9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2" name="Google Shape;232;p11"/>
          <p:cNvGrpSpPr/>
          <p:nvPr/>
        </p:nvGrpSpPr>
        <p:grpSpPr>
          <a:xfrm>
            <a:off x="5649027" y="1303124"/>
            <a:ext cx="1283799" cy="486900"/>
            <a:chOff x="5439652" y="1316811"/>
            <a:chExt cx="1283799" cy="486900"/>
          </a:xfrm>
        </p:grpSpPr>
        <p:sp>
          <p:nvSpPr>
            <p:cNvPr id="233" name="Google Shape;233;p11"/>
            <p:cNvSpPr/>
            <p:nvPr/>
          </p:nvSpPr>
          <p:spPr>
            <a:xfrm>
              <a:off x="5749051" y="1316811"/>
              <a:ext cx="974400" cy="48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800"/>
                <a:buFont typeface="Calibri"/>
                <a:buNone/>
              </a:pPr>
              <a:r>
                <a:rPr b="0" i="0" lang="en-US" sz="800" u="none" cap="none" strike="noStrike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레거시 및 타겟 런타임 </a:t>
              </a:r>
              <a:r>
                <a:rPr b="1" i="0" lang="en-US" sz="800" u="none" cap="none" strike="noStrike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결과 수집 </a:t>
              </a:r>
              <a:r>
                <a:rPr b="0" i="0" lang="en-US" sz="800" u="none" cap="none" strike="noStrike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완료</a:t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4" name="Google Shape;234;p11"/>
            <p:cNvGrpSpPr/>
            <p:nvPr/>
          </p:nvGrpSpPr>
          <p:grpSpPr>
            <a:xfrm>
              <a:off x="5439652" y="1397876"/>
              <a:ext cx="270000" cy="270000"/>
              <a:chOff x="2708902" y="1395601"/>
              <a:chExt cx="270000" cy="270000"/>
            </a:xfrm>
          </p:grpSpPr>
          <p:sp>
            <p:nvSpPr>
              <p:cNvPr id="235" name="Google Shape;235;p11"/>
              <p:cNvSpPr/>
              <p:nvPr/>
            </p:nvSpPr>
            <p:spPr>
              <a:xfrm>
                <a:off x="2708902" y="1395601"/>
                <a:ext cx="270000" cy="270000"/>
              </a:xfrm>
              <a:prstGeom prst="ellipse">
                <a:avLst/>
              </a:prstGeom>
              <a:solidFill>
                <a:srgbClr val="02B9AD"/>
              </a:solidFill>
              <a:ln>
                <a:noFill/>
              </a:ln>
              <a:effectLst>
                <a:outerShdw blurRad="66675" rotWithShape="0" algn="bl" dir="5400000" dist="19050">
                  <a:srgbClr val="0B1220">
                    <a:alpha val="10199"/>
                  </a:srgbClr>
                </a:outerShdw>
              </a:effectLst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>
                <a:off x="2782257" y="1471227"/>
                <a:ext cx="123300" cy="12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900"/>
                  <a:buFont typeface="Calibri"/>
                  <a:buNone/>
                </a:pPr>
                <a:r>
                  <a:rPr b="1" lang="en-US" sz="9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7" name="Google Shape;237;p11"/>
          <p:cNvGrpSpPr/>
          <p:nvPr/>
        </p:nvGrpSpPr>
        <p:grpSpPr>
          <a:xfrm>
            <a:off x="7218315" y="1303125"/>
            <a:ext cx="1354185" cy="486900"/>
            <a:chOff x="7218315" y="1316738"/>
            <a:chExt cx="1354185" cy="486900"/>
          </a:xfrm>
        </p:grpSpPr>
        <p:sp>
          <p:nvSpPr>
            <p:cNvPr id="238" name="Google Shape;238;p11"/>
            <p:cNvSpPr/>
            <p:nvPr/>
          </p:nvSpPr>
          <p:spPr>
            <a:xfrm>
              <a:off x="7552200" y="1316738"/>
              <a:ext cx="1020300" cy="48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800"/>
                <a:buFont typeface="Calibri"/>
                <a:buNone/>
              </a:pPr>
              <a:r>
                <a:rPr b="0" i="0" lang="en-US" sz="800" u="none" cap="none" strike="noStrike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적재 데이터 자동 </a:t>
              </a:r>
              <a:r>
                <a:rPr b="1" i="0" lang="en-US" sz="800" u="none" cap="none" strike="noStrike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소거(Cleanup) 상태 </a:t>
              </a:r>
              <a:r>
                <a:rPr b="0" i="0" lang="en-US" sz="800" u="none" cap="none" strike="noStrike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복원</a:t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9" name="Google Shape;239;p11"/>
            <p:cNvGrpSpPr/>
            <p:nvPr/>
          </p:nvGrpSpPr>
          <p:grpSpPr>
            <a:xfrm>
              <a:off x="7218315" y="1424051"/>
              <a:ext cx="270000" cy="270000"/>
              <a:chOff x="2708902" y="1395601"/>
              <a:chExt cx="270000" cy="270000"/>
            </a:xfrm>
          </p:grpSpPr>
          <p:sp>
            <p:nvSpPr>
              <p:cNvPr id="240" name="Google Shape;240;p11"/>
              <p:cNvSpPr/>
              <p:nvPr/>
            </p:nvSpPr>
            <p:spPr>
              <a:xfrm>
                <a:off x="2708902" y="1395601"/>
                <a:ext cx="270000" cy="270000"/>
              </a:xfrm>
              <a:prstGeom prst="ellipse">
                <a:avLst/>
              </a:prstGeom>
              <a:solidFill>
                <a:srgbClr val="02B9AD"/>
              </a:solidFill>
              <a:ln>
                <a:noFill/>
              </a:ln>
              <a:effectLst>
                <a:outerShdw blurRad="66675" rotWithShape="0" algn="bl" dir="5400000" dist="19050">
                  <a:srgbClr val="0B1220">
                    <a:alpha val="10199"/>
                  </a:srgbClr>
                </a:outerShdw>
              </a:effectLst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>
                <a:off x="2782257" y="1471227"/>
                <a:ext cx="123300" cy="12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900"/>
                  <a:buFont typeface="Calibri"/>
                  <a:buNone/>
                </a:pPr>
                <a:r>
                  <a:rPr b="1" lang="en-US" sz="9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"/>
          <p:cNvSpPr/>
          <p:nvPr/>
        </p:nvSpPr>
        <p:spPr>
          <a:xfrm>
            <a:off x="514350" y="356616"/>
            <a:ext cx="7292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B9A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B9AD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514350" y="562356"/>
            <a:ext cx="7292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마이그레이션 프로세스 및 로드맵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8067065" y="356616"/>
            <a:ext cx="562200" cy="562200"/>
          </a:xfrm>
          <a:prstGeom prst="ellipse">
            <a:avLst/>
          </a:prstGeom>
          <a:solidFill>
            <a:srgbClr val="02B9AD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0" name="Google Shape;25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3278" y="502829"/>
            <a:ext cx="269931" cy="269931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2"/>
          <p:cNvSpPr/>
          <p:nvPr/>
        </p:nvSpPr>
        <p:spPr>
          <a:xfrm>
            <a:off x="514350" y="1234440"/>
            <a:ext cx="2522400" cy="3463200"/>
          </a:xfrm>
          <a:prstGeom prst="roundRect">
            <a:avLst>
              <a:gd fmla="val 24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"/>
          <p:cNvSpPr/>
          <p:nvPr/>
        </p:nvSpPr>
        <p:spPr>
          <a:xfrm>
            <a:off x="514350" y="1234440"/>
            <a:ext cx="2522400" cy="617100"/>
          </a:xfrm>
          <a:prstGeom prst="roundRect">
            <a:avLst>
              <a:gd fmla="val 1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514350" y="1543050"/>
            <a:ext cx="2522400" cy="308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720090" y="1364742"/>
            <a:ext cx="356700" cy="356700"/>
          </a:xfrm>
          <a:prstGeom prst="ellipse">
            <a:avLst/>
          </a:prstGeom>
          <a:solidFill>
            <a:srgbClr val="02B9AD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5" name="Google Shape;25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810" y="1457462"/>
            <a:ext cx="171176" cy="171176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2"/>
          <p:cNvSpPr/>
          <p:nvPr/>
        </p:nvSpPr>
        <p:spPr>
          <a:xfrm>
            <a:off x="1165860" y="1234440"/>
            <a:ext cx="17679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B9AD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2B9AD"/>
                </a:solidFill>
                <a:latin typeface="Calibri"/>
                <a:ea typeface="Calibri"/>
                <a:cs typeface="Calibri"/>
                <a:sym typeface="Calibri"/>
              </a:rPr>
              <a:t>Phase 1. 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분석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754380" y="1988820"/>
            <a:ext cx="20763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14300" lvl="0" marL="1143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Char char="•"/>
            </a:pPr>
            <a:r>
              <a:rPr b="1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SP DDL 및 스키마 정보</a:t>
            </a: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재귀 수집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114300" marR="0" rtl="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Char char="•"/>
            </a:pPr>
            <a:r>
              <a:rPr b="1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DDL 해시 시그니처 기반 로컬 증분 분석 캐싱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1" marL="190500" marR="0" rtl="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Char char="–"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- API 토큰 비용 및 대기 시간 최소화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11430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Char char="•"/>
            </a:pPr>
            <a:r>
              <a:rPr b="1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3단계 신뢰성 검증 파이프라인 (L1~L3) </a:t>
            </a: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명세서 확정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114300" marR="0" rtl="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상수 분기 및 데이터 프로파일링 기반 통합 정산 정책서 도출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3310814" y="1234440"/>
            <a:ext cx="2522400" cy="3463200"/>
          </a:xfrm>
          <a:prstGeom prst="roundRect">
            <a:avLst>
              <a:gd fmla="val 24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3310814" y="1234440"/>
            <a:ext cx="2522400" cy="617100"/>
          </a:xfrm>
          <a:prstGeom prst="roundRect">
            <a:avLst>
              <a:gd fmla="val 1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3310814" y="1543050"/>
            <a:ext cx="2522400" cy="308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"/>
          <p:cNvSpPr/>
          <p:nvPr/>
        </p:nvSpPr>
        <p:spPr>
          <a:xfrm>
            <a:off x="3516554" y="1364742"/>
            <a:ext cx="356700" cy="356700"/>
          </a:xfrm>
          <a:prstGeom prst="ellipse">
            <a:avLst/>
          </a:prstGeom>
          <a:solidFill>
            <a:srgbClr val="02B9AD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2" name="Google Shape;26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09274" y="1457462"/>
            <a:ext cx="171176" cy="171176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2"/>
          <p:cNvSpPr/>
          <p:nvPr/>
        </p:nvSpPr>
        <p:spPr>
          <a:xfrm>
            <a:off x="3962324" y="1234440"/>
            <a:ext cx="17679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B9AD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2B9AD"/>
                </a:solidFill>
                <a:latin typeface="Calibri"/>
                <a:ea typeface="Calibri"/>
                <a:cs typeface="Calibri"/>
                <a:sym typeface="Calibri"/>
              </a:rPr>
              <a:t>Phase 2. 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코드 생성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3550843" y="1988820"/>
            <a:ext cx="20763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14300" lvl="0" marL="1143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TUI 순차 선택 기반 배치 실행 단계 순서 확보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114300" marR="0" rtl="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Char char="•"/>
            </a:pPr>
            <a:r>
              <a:rPr b="1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마이그레이션 지시서 번들 패키징</a:t>
            </a: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(설계서, DDL, 스키마 통합)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114300" marR="0" rtl="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TDD용 단위 테스트 및 ArchUnit 아키텍처 규칙 코드 선제 공급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114300" marR="0" rtl="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Char char="•"/>
            </a:pPr>
            <a:r>
              <a:rPr b="1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외부 코딩 에이전트 자동 기동 </a:t>
            </a: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및 자가 수정 피드백 루프 가동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6107278" y="1234440"/>
            <a:ext cx="2522400" cy="3463200"/>
          </a:xfrm>
          <a:prstGeom prst="roundRect">
            <a:avLst>
              <a:gd fmla="val 24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"/>
          <p:cNvSpPr/>
          <p:nvPr/>
        </p:nvSpPr>
        <p:spPr>
          <a:xfrm>
            <a:off x="6107278" y="1234440"/>
            <a:ext cx="2522400" cy="617100"/>
          </a:xfrm>
          <a:prstGeom prst="roundRect">
            <a:avLst>
              <a:gd fmla="val 1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6107278" y="1543050"/>
            <a:ext cx="2522400" cy="308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6313018" y="1364742"/>
            <a:ext cx="356700" cy="356700"/>
          </a:xfrm>
          <a:prstGeom prst="ellipse">
            <a:avLst/>
          </a:prstGeom>
          <a:solidFill>
            <a:srgbClr val="02B9AD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9" name="Google Shape;269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5738" y="1457462"/>
            <a:ext cx="171176" cy="17117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2"/>
          <p:cNvSpPr/>
          <p:nvPr/>
        </p:nvSpPr>
        <p:spPr>
          <a:xfrm>
            <a:off x="6758788" y="1234440"/>
            <a:ext cx="17679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B9AD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2B9AD"/>
                </a:solidFill>
                <a:latin typeface="Calibri"/>
                <a:ea typeface="Calibri"/>
                <a:cs typeface="Calibri"/>
                <a:sym typeface="Calibri"/>
              </a:rPr>
              <a:t>Phase 3. 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검증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6347308" y="1988820"/>
            <a:ext cx="20763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14300" lvl="0" marL="1143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소스코드 vs 설계서 구조 및 논리 일치성 Gap 분석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114300" marR="0" rtl="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관계지향 </a:t>
            </a:r>
            <a:r>
              <a:rPr b="1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모의 데이터(Mock Data) 자동 설계 </a:t>
            </a: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및 Sandbox DB 적재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114300" marR="0" rtl="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Char char="•"/>
            </a:pPr>
            <a:r>
              <a:rPr b="1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양방향(Legacy vs Target) 실행 결과 데이터 수집</a:t>
            </a: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및 Sandbox Cleanup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114300" marR="0" rtl="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결과셋 </a:t>
            </a:r>
            <a:r>
              <a:rPr b="1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데이터 1:1 정밀 대조 및 데이터 정합성 비교 보고서</a:t>
            </a: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발행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114300" marR="0" rtl="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정합성 결함 발생 시 3단계 복구 피드백 루프 작동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>
            <a:off x="514350" y="356616"/>
            <a:ext cx="7292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B9A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B9AD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514350" y="562356"/>
            <a:ext cx="7292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ReSet 도입 기대 효과 및 성공 지표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8067065" y="356616"/>
            <a:ext cx="562200" cy="562200"/>
          </a:xfrm>
          <a:prstGeom prst="ellipse">
            <a:avLst/>
          </a:prstGeom>
          <a:solidFill>
            <a:srgbClr val="02B9AD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0" name="Google Shape;28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3278" y="502829"/>
            <a:ext cx="269931" cy="269931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3"/>
          <p:cNvSpPr/>
          <p:nvPr/>
        </p:nvSpPr>
        <p:spPr>
          <a:xfrm>
            <a:off x="514350" y="1337310"/>
            <a:ext cx="2522400" cy="3257700"/>
          </a:xfrm>
          <a:prstGeom prst="roundRect">
            <a:avLst>
              <a:gd fmla="val 2719" name="adj"/>
            </a:avLst>
          </a:prstGeom>
          <a:solidFill>
            <a:srgbClr val="F1F5F9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788670" y="1577340"/>
            <a:ext cx="19734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B9AD"/>
              </a:buClr>
              <a:buSzPts val="3900"/>
              <a:buFont typeface="Calibri"/>
              <a:buNone/>
            </a:pPr>
            <a:r>
              <a:rPr b="1" i="0" lang="en-US" sz="3900" u="none" cap="none" strike="noStrike">
                <a:solidFill>
                  <a:srgbClr val="02B9AD"/>
                </a:solidFill>
                <a:latin typeface="Calibri"/>
                <a:ea typeface="Calibri"/>
                <a:cs typeface="Calibri"/>
                <a:sym typeface="Calibri"/>
              </a:rPr>
              <a:t>90%+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802386" y="2400300"/>
            <a:ext cx="1973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분석 및 개발 공수 단축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13"/>
          <p:cNvCxnSpPr/>
          <p:nvPr/>
        </p:nvCxnSpPr>
        <p:spPr>
          <a:xfrm>
            <a:off x="802386" y="2880360"/>
            <a:ext cx="19461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13"/>
          <p:cNvSpPr/>
          <p:nvPr/>
        </p:nvSpPr>
        <p:spPr>
          <a:xfrm>
            <a:off x="802386" y="2983230"/>
            <a:ext cx="1973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레거시 비즈니스 로직 파악과 문서화에 소요되는 시간 및 인적 리소스를 혁신적으로 단축(90% 이상 절감)합니다.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6" name="Google Shape;2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386" y="410108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3"/>
          <p:cNvSpPr/>
          <p:nvPr/>
        </p:nvSpPr>
        <p:spPr>
          <a:xfrm>
            <a:off x="1021842" y="4080510"/>
            <a:ext cx="1767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기존 시스템 흐름 문서화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3310814" y="1337310"/>
            <a:ext cx="2522400" cy="3257700"/>
          </a:xfrm>
          <a:prstGeom prst="roundRect">
            <a:avLst>
              <a:gd fmla="val 2719" name="adj"/>
            </a:avLst>
          </a:prstGeom>
          <a:solidFill>
            <a:srgbClr val="F1F5F9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3585134" y="1577340"/>
            <a:ext cx="19734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3900"/>
              <a:buFont typeface="Calibri"/>
              <a:buNone/>
            </a:pPr>
            <a:r>
              <a:rPr b="1" i="0" lang="en-US" sz="39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3598850" y="2400300"/>
            <a:ext cx="1973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설계 산출물 결함률 제로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13"/>
          <p:cNvCxnSpPr/>
          <p:nvPr/>
        </p:nvCxnSpPr>
        <p:spPr>
          <a:xfrm>
            <a:off x="3598850" y="2880360"/>
            <a:ext cx="19461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13"/>
          <p:cNvSpPr/>
          <p:nvPr/>
        </p:nvSpPr>
        <p:spPr>
          <a:xfrm>
            <a:off x="3598850" y="2983230"/>
            <a:ext cx="1973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Mermaid 다이어그램 컴파일 린팅 및 L1/L2 </a:t>
            </a: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자가 교정 피드백 루프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를 통해 산출물 오류 발생률 0%를 달성합니다.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3" name="Google Shape;29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8850" y="410108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3"/>
          <p:cNvSpPr/>
          <p:nvPr/>
        </p:nvSpPr>
        <p:spPr>
          <a:xfrm>
            <a:off x="3818306" y="4080510"/>
            <a:ext cx="1767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AI 활용 가능한 실행 명세 확보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6107278" y="1337310"/>
            <a:ext cx="2522400" cy="3257700"/>
          </a:xfrm>
          <a:prstGeom prst="roundRect">
            <a:avLst>
              <a:gd fmla="val 2719" name="adj"/>
            </a:avLst>
          </a:prstGeom>
          <a:solidFill>
            <a:srgbClr val="F1F5F9"/>
          </a:solidFill>
          <a:ln>
            <a:noFill/>
          </a:ln>
          <a:effectLst>
            <a:outerShdw blurRad="66675" rotWithShape="0" algn="bl" dir="5400000" dist="19050">
              <a:srgbClr val="0B122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6381598" y="1577340"/>
            <a:ext cx="19734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3900"/>
              <a:buFont typeface="Calibri"/>
              <a:buNone/>
            </a:pPr>
            <a:r>
              <a:rPr b="1" i="0" lang="en-US" sz="39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6395314" y="2400300"/>
            <a:ext cx="1973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런타임 로직 정합성 보장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13"/>
          <p:cNvCxnSpPr/>
          <p:nvPr/>
        </p:nvCxnSpPr>
        <p:spPr>
          <a:xfrm>
            <a:off x="6395314" y="2880360"/>
            <a:ext cx="19461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13"/>
          <p:cNvSpPr/>
          <p:nvPr/>
        </p:nvSpPr>
        <p:spPr>
          <a:xfrm>
            <a:off x="6395314" y="2983230"/>
            <a:ext cx="1973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Sandbox DB 환경에서 </a:t>
            </a: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1:1로 실제 데이터 실행 결과를 정밀 비교</a:t>
            </a: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대조함으로써, 이관 과정의 휴먼 에러를 배제합니다.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0" name="Google Shape;30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5314" y="410108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3"/>
          <p:cNvSpPr/>
          <p:nvPr/>
        </p:nvSpPr>
        <p:spPr>
          <a:xfrm>
            <a:off x="6614770" y="4080510"/>
            <a:ext cx="1767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신규 배치시스템 전환 기반 마련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